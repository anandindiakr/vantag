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0"/>
            <a:ext cx="4059936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0"/>
            <a:ext cx="4059936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286000"/>
            <a:ext cx="2286000" cy="228600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01168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VANTAG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468880"/>
            <a:ext cx="82296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Retail Intelligence</a:t>
            </a:r>
          </a:p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&amp; Security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3891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F59E0B"/>
                </a:solidFill>
                <a:latin typeface="Calibri"/>
              </a:rPr>
              <a:t>AI-Powered · Edge-First · Multi-Region 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93776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Turning any IP camera into a 24/7 AI guardian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566928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🇮🇳 India — Retail Nazar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56692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🇸🇬 Singapore — Vantag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5669280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🇲🇾 Malaysia — JagaJaga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Investor &amp; Partner Overview  ·  Version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B21B6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Retail shrinkage costs trillions.</a:t>
            </a:r>
          </a:p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Traditional CCTV rarely catches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286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DC2626"/>
                </a:solidFill>
                <a:latin typeface="Calibri"/>
              </a:rPr>
              <a:t>USD 112B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global retail shrinkage</a:t>
            </a:r>
          </a:p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annual 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10312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286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59E0B"/>
                </a:solidFill>
                <a:latin typeface="Calibri"/>
              </a:rPr>
              <a:t>1.5–3%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24612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revenue lost every year</a:t>
            </a:r>
          </a:p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in emerging markets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2286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5B21B6"/>
                </a:solidFill>
                <a:latin typeface="Calibri"/>
              </a:rPr>
              <a:t>&lt; 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4612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of CCTV footage is</a:t>
            </a:r>
          </a:p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actually reviewed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10312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286000"/>
            <a:ext cx="2286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F2937"/>
                </a:solidFill>
                <a:latin typeface="Calibri"/>
              </a:rPr>
              <a:t>USD 5K–50K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246120"/>
            <a:ext cx="2286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typical cost per store for</a:t>
            </a:r>
          </a:p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existing AI-CCTV systems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26280"/>
            <a:ext cx="11155680" cy="16459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WHO SUFFERS MOST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Small retailers, mall managers, hospitals, clinics, post offices, police stations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and homes — those who need protection most — are priced out of the market.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VANTAG  |  Retail Intelligence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DIY AI security in under 30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Works with any existing IP camera. No installers, no NVR lock-in, no monthly data bills.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606040"/>
            <a:ext cx="822960" cy="82296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60604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6576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5B21B6"/>
                </a:solidFill>
                <a:latin typeface="Calibri"/>
              </a:rPr>
              <a:t>EDGE-FIRST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160520"/>
            <a:ext cx="32004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All AI runs on-premises.</a:t>
            </a:r>
          </a:p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Video never leaves your store.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237744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1999" y="260604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260604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6576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59E0B"/>
                </a:solidFill>
                <a:latin typeface="Calibri"/>
              </a:rPr>
              <a:t>PLUG &amp; 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4160520"/>
            <a:ext cx="32004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Auto-discovers cameras,</a:t>
            </a:r>
          </a:p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auto-draws zones, auto-starts.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237744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2606040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60604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6576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  <a:latin typeface="Calibri"/>
              </a:rPr>
              <a:t>SUBSCRIPTION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160520"/>
            <a:ext cx="32004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Razorpay in INR, SGD, MYR.</a:t>
            </a:r>
          </a:p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From ₹1,999 / S$39 / RM59.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760720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833872"/>
            <a:ext cx="11155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12 AI Detectors  ·  11 Languages  ·  3 Regions  ·  Android / Windows / Pi / Jetson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VANTAG  |  Retail Intelligence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B21B6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Edge AI + Cloud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0292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5B21B6"/>
                </a:solidFill>
                <a:latin typeface="Calibri"/>
              </a:rPr>
              <a:t>CUSTOMER PREMISES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42032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Cam 1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1546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27832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Cam 2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404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913631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Cam 3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5262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2628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99431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NVR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2926080"/>
            <a:ext cx="2286000" cy="2194560"/>
          </a:xfrm>
          <a:prstGeom prst="roundRect">
            <a:avLst>
              <a:gd name="adj" fmla="val 8000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0175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EDGE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42900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Android · Windows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749039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Raspberry Pi · Jetson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11480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YOLOv8 Inference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466344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>
                <a:solidFill>
                  <a:srgbClr val="5B21B6"/>
                </a:solidFill>
                <a:latin typeface="Calibri"/>
              </a:rPr>
              <a:t>RTSP · ONVIF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25880" y="2697480"/>
            <a:ext cx="1691640" cy="123444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325880" y="3383280"/>
            <a:ext cx="1691640" cy="54864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325880" y="3931920"/>
            <a:ext cx="1691640" cy="13716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25880" y="3931920"/>
            <a:ext cx="1691640" cy="82296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858000" y="1828800"/>
            <a:ext cx="48463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19659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VANTAG CLOUD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2331720"/>
            <a:ext cx="4297680" cy="5029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69480" y="2423160"/>
            <a:ext cx="320040" cy="32004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2450591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FastAPI Backend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0" y="2926080"/>
            <a:ext cx="4297680" cy="5029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69480" y="3017520"/>
            <a:ext cx="320040" cy="32004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304495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PostgreSQL + Redis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0" y="3520440"/>
            <a:ext cx="4297680" cy="5029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269480" y="361188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363931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Mosquitto MQTT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0" y="4114800"/>
            <a:ext cx="4297680" cy="5029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69480" y="420624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0" y="423367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Razorpay Gateway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0" y="4709160"/>
            <a:ext cx="4297680" cy="5029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269480" y="4800600"/>
            <a:ext cx="320040" cy="32004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482803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React Web + PWA Mobile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0" y="5303520"/>
            <a:ext cx="4297680" cy="5029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269480" y="5394959"/>
            <a:ext cx="320040" cy="320040"/>
          </a:xfrm>
          <a:prstGeom prst="ellipse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0960" y="542239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Super-Admin Panel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532120" y="4023360"/>
            <a:ext cx="1325880" cy="0"/>
          </a:xfrm>
          <a:prstGeom prst="line">
            <a:avLst/>
          </a:prstGeom>
          <a:ln w="381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486400" y="356616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HTTPS</a:t>
            </a:r>
          </a:p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metadata only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42062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 i="0">
                <a:solidFill>
                  <a:srgbClr val="10B981"/>
                </a:solidFill>
                <a:latin typeface="Calibri"/>
              </a:rPr>
              <a:t>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VANTAG  |  Retail Intelligence Platform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B21B6"/>
                </a:solidFill>
                <a:latin typeface="Calibri"/>
              </a:rPr>
              <a:t>AI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12 real-time detectors · &gt; 92% 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993392"/>
            <a:ext cx="594360" cy="59436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93392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2996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Product Sweeping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95728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Theft by grab-and-run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82880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02152" y="1993392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993392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202996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Anomalous Dwell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2395728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Loitering in zones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82880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18504" y="1993392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993392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02996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Empty Shelf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2395728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Out-of-stock alerts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82880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34856" y="1993392"/>
            <a:ext cx="594360" cy="59436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1993392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0656" y="202996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Shoplifting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0656" y="2395728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Concealment patterns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24612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3410712"/>
            <a:ext cx="594360" cy="59436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410712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↔️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44728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Inventory Move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813048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Cross-zone transfers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324612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02152" y="3410712"/>
            <a:ext cx="594360" cy="59436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02152" y="3410712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344728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Fall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7952" y="3813048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Customer / staff falls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1344" y="324612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18504" y="3410712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18504" y="3410712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44728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Zone Intrusion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04304" y="3813048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Restricted-area entry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97696" y="324612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134856" y="3410712"/>
            <a:ext cx="594360" cy="59436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34856" y="3410712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0656" y="3447288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Crowd Density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0656" y="3813048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Queue &amp; occupancy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66344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5800" y="4828031"/>
            <a:ext cx="594360" cy="59436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4828031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4864607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Camera Tamper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" y="5230368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Lens block / cable cut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64992" y="466344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502152" y="4828031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02152" y="4828031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87952" y="4864607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Staff Behaviour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87952" y="5230368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Till away, breaks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81344" y="466344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318504" y="4828031"/>
            <a:ext cx="594360" cy="59436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18504" y="4828031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04304" y="4864607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After-Hours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04304" y="5230368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Closed-window motion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97696" y="466344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134856" y="4828031"/>
            <a:ext cx="594360" cy="59436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34856" y="4828031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20656" y="4864607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License Plate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20656" y="5230368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Vehicle recognition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Base model: YOLOv8n-seg, fine-tuned on 45K retail frames · BoT-SORT multi-object tracking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VANTAG  |  Retail Intelligence Platform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CUSTOMER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From signup to live AI in 30 minutes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1097280" cy="109728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920240"/>
            <a:ext cx="2286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201168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423160"/>
            <a:ext cx="2103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Shop name, email,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region auto-detected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32918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&lt; 3 min</a:t>
            </a:r>
          </a:p>
        </p:txBody>
      </p:sp>
      <p:sp>
        <p:nvSpPr>
          <p:cNvPr id="11" name="Oval 10"/>
          <p:cNvSpPr/>
          <p:nvPr/>
        </p:nvSpPr>
        <p:spPr>
          <a:xfrm>
            <a:off x="4343400" y="192024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92024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920240"/>
            <a:ext cx="2286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01168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PICK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423160"/>
            <a:ext cx="2103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Starter · Growth · Pro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Razorpay checkout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2918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&lt; 5 min</a:t>
            </a:r>
          </a:p>
        </p:txBody>
      </p:sp>
      <p:sp>
        <p:nvSpPr>
          <p:cNvPr id="17" name="Oval 16"/>
          <p:cNvSpPr/>
          <p:nvPr/>
        </p:nvSpPr>
        <p:spPr>
          <a:xfrm>
            <a:off x="8138160" y="1920240"/>
            <a:ext cx="1097280" cy="109728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92024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1920240"/>
            <a:ext cx="2286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201168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DOWNLOAD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423160"/>
            <a:ext cx="2103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Edge Agent for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phone / PC / 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32918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&lt; 5 min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02336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4023360"/>
            <a:ext cx="2286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41148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SCAN QR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526280"/>
            <a:ext cx="2103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One-tap pairing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to cloud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53949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&lt; 2 min</a:t>
            </a:r>
          </a:p>
        </p:txBody>
      </p:sp>
      <p:sp>
        <p:nvSpPr>
          <p:cNvPr id="29" name="Oval 28"/>
          <p:cNvSpPr/>
          <p:nvPr/>
        </p:nvSpPr>
        <p:spPr>
          <a:xfrm>
            <a:off x="4343400" y="4023360"/>
            <a:ext cx="1097280" cy="109728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402336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4023360"/>
            <a:ext cx="2286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41148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AUTO-DISCOVER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526280"/>
            <a:ext cx="2103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ONVIF + ARP scan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finds cameras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06440" y="53949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&lt; 5 min</a:t>
            </a:r>
          </a:p>
        </p:txBody>
      </p:sp>
      <p:sp>
        <p:nvSpPr>
          <p:cNvPr id="35" name="Oval 34"/>
          <p:cNvSpPr/>
          <p:nvPr/>
        </p:nvSpPr>
        <p:spPr>
          <a:xfrm>
            <a:off x="8138160" y="402336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4023360"/>
            <a:ext cx="10972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18320" y="4023360"/>
            <a:ext cx="2286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0" y="41148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DRAW ZONES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4526280"/>
            <a:ext cx="2103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Click-click polygons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on snapshots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01200" y="53949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&lt; 10 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VANTAG  |  Retail Intelligence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GEOGRAPHIC FOOTPRINT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One platform, three localised brands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11880" cy="438912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0" i="0">
                <a:solidFill>
                  <a:srgbClr val="1F2937"/>
                </a:solidFill>
                <a:latin typeface="Calibri"/>
              </a:rPr>
              <a:t>🇮🇳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RETAIL NAZAR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retailnazar.com / .in / .info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94760"/>
            <a:ext cx="324612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LANGUAGES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32461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Hindi · Tamil · Telugu · Kannada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Malayalam · Marathi · Gujarati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Bengali · Punjabi ·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₹ INR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54864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7M shops TAM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611880" cy="438912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952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96596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0" i="0">
                <a:solidFill>
                  <a:srgbClr val="1F2937"/>
                </a:solidFill>
                <a:latin typeface="Calibri"/>
              </a:rPr>
              <a:t>🇸🇬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743200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5B21B6"/>
                </a:solidFill>
                <a:latin typeface="Calibri"/>
              </a:rPr>
              <a:t>VANTAG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46120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retail-vantag.com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3794760"/>
            <a:ext cx="3246120" cy="36576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931920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LANGUAGES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206240"/>
            <a:ext cx="32461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English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5486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S$ SGD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54864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200K shops TAM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828800"/>
            <a:ext cx="3611880" cy="438912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96596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0" i="0">
                <a:solidFill>
                  <a:srgbClr val="1F2937"/>
                </a:solidFill>
                <a:latin typeface="Calibri"/>
              </a:rPr>
              <a:t>🇲🇾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743200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JAGAJAGA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246120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jagajaga.my</a:t>
            </a:r>
          </a:p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retailjagajaga.com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3794760"/>
            <a:ext cx="3246120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931920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LANGUAGES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206240"/>
            <a:ext cx="32461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Malay · English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5486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RM MYR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0" y="54864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1M shops TAM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VANTAG  |  Retail Intelligence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B21B6"/>
                </a:solidFill>
                <a:latin typeface="Calibri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Three tiers. Local currency. No lock-in.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90195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CAMERAS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90195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90195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SINGAPORE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0195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MALAYSIA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190195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23160"/>
            <a:ext cx="11247120" cy="1261872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5B21B6"/>
                </a:solidFill>
                <a:latin typeface="Calibri"/>
              </a:rPr>
              <a:t>STARTER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83464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88036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₹1,999/mo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88036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S$39/mo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88036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RM59/mo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2560320"/>
            <a:ext cx="164592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Core 12 detectors</a:t>
            </a:r>
          </a:p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30-day 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76472"/>
            <a:ext cx="1124712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13632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5B21B6"/>
                </a:solidFill>
                <a:latin typeface="Calibri"/>
              </a:rPr>
              <a:t>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18795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233672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₹4,499/mo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233672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S$99/mo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233672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RM149/mo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3913632"/>
            <a:ext cx="164592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+ POS integration</a:t>
            </a:r>
          </a:p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+ Door-lock MQTT</a:t>
            </a:r>
          </a:p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90-day history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129783"/>
            <a:ext cx="11247120" cy="1261872"/>
          </a:xfrm>
          <a:prstGeom prst="roundRect">
            <a:avLst>
              <a:gd name="adj" fmla="val 8000"/>
            </a:avLst>
          </a:prstGeom>
          <a:solidFill>
            <a:srgbClr val="5B21B6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266944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Calibri"/>
              </a:rPr>
              <a:t>PRO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72414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800" b="1">
                <a:solidFill>
                  <a:srgbClr val="111827"/>
                </a:solidFill>
                <a:latin typeface="Calibri"/>
              </a:rPr>
              <a:t>MOST POPULAR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5541264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586983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₹8,999/mo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586983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S$189/mo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586983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RM299/mo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5266944"/>
            <a:ext cx="164592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+ Priority support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+ API access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365-day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Annual plans save 17% · 7-day money-back · Razorpay: UPI, cards, net-banking, FPX, PayNow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VANTAG  |  Retail Intelligence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8.2 million shops across 3 regions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5B21B6"/>
                </a:solidFill>
                <a:latin typeface="Calibri"/>
              </a:rPr>
              <a:t>ADDRESSABLE MARKET FUNNEL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560320"/>
            <a:ext cx="5029200" cy="822960"/>
          </a:xfrm>
          <a:prstGeom prst="roundRect">
            <a:avLst>
              <a:gd name="adj" fmla="val 8000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7004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8.2M shops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3657600"/>
            <a:ext cx="3931920" cy="82296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3767328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096512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85K reachable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4754880"/>
            <a:ext cx="2834640" cy="82296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4864608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5193792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18K target Y3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920240"/>
            <a:ext cx="53035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116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BY REGION — YEAR 3 TARGETS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468880"/>
            <a:ext cx="5303520" cy="6400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58775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Region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58775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Shops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58775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258775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2783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India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22783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7.0M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22783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15K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322783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USD 4.8M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86791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Malaysia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86791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1.0M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6791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2K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386791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USD 1.0M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50799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Singapore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50799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0.2M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450799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1K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450799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USD 1.4M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029200"/>
            <a:ext cx="5303520" cy="6400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514807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TOTAL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514807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8.2M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14807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18K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5148072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USD 7.2M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806440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At median ARPU of USD 400 / year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VANTAG  |  Retail Intelligence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B21B6"/>
                </a:solidFill>
                <a:latin typeface="Calibri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Modern, open, production-grade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37160" cy="21031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9377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  <a:latin typeface="Calibri"/>
              </a:rPr>
              <a:t>BACKEND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14600"/>
            <a:ext cx="91440" cy="9144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432304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FastAPI · async Python 3.11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807208"/>
            <a:ext cx="91440" cy="9144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724912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PostgreSQL 15 + asyncpg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099816"/>
            <a:ext cx="91440" cy="9144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0175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Redis pub/sub + cache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392424"/>
            <a:ext cx="91440" cy="9144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310128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Mosquitto MQTT 5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685032"/>
            <a:ext cx="91440" cy="9144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602736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JWT + bcrypt 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92024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920240"/>
            <a:ext cx="137160" cy="2103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011680"/>
            <a:ext cx="49377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FRONTEND</a:t>
            </a:r>
          </a:p>
        </p:txBody>
      </p:sp>
      <p:sp>
        <p:nvSpPr>
          <p:cNvPr id="21" name="Oval 20"/>
          <p:cNvSpPr/>
          <p:nvPr/>
        </p:nvSpPr>
        <p:spPr>
          <a:xfrm>
            <a:off x="6537960" y="251460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432304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React 18 + TypeScript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280720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2724912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Vite build, Tailwind CSS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309981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30175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PWA installable mobile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339242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3310128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react-i18next (11 langs)</a:t>
            </a:r>
          </a:p>
        </p:txBody>
      </p:sp>
      <p:sp>
        <p:nvSpPr>
          <p:cNvPr id="29" name="Oval 28"/>
          <p:cNvSpPr/>
          <p:nvPr/>
        </p:nvSpPr>
        <p:spPr>
          <a:xfrm>
            <a:off x="6537960" y="368503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3602736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Chart.js + Mapbox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20624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206240"/>
            <a:ext cx="137160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297679"/>
            <a:ext cx="49377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AI / ML</a:t>
            </a:r>
          </a:p>
        </p:txBody>
      </p:sp>
      <p:sp>
        <p:nvSpPr>
          <p:cNvPr id="34" name="Oval 33"/>
          <p:cNvSpPr/>
          <p:nvPr/>
        </p:nvSpPr>
        <p:spPr>
          <a:xfrm>
            <a:off x="914400" y="480060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4718304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YOLOv8n-seg (Ultralytics)</a:t>
            </a:r>
          </a:p>
        </p:txBody>
      </p:sp>
      <p:sp>
        <p:nvSpPr>
          <p:cNvPr id="36" name="Oval 35"/>
          <p:cNvSpPr/>
          <p:nvPr/>
        </p:nvSpPr>
        <p:spPr>
          <a:xfrm>
            <a:off x="914400" y="509320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5010912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BoT-SORT tracker</a:t>
            </a:r>
          </a:p>
        </p:txBody>
      </p:sp>
      <p:sp>
        <p:nvSpPr>
          <p:cNvPr id="38" name="Oval 37"/>
          <p:cNvSpPr/>
          <p:nvPr/>
        </p:nvSpPr>
        <p:spPr>
          <a:xfrm>
            <a:off x="914400" y="5385816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53035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TensorRT on Jetson (7× speed)</a:t>
            </a:r>
          </a:p>
        </p:txBody>
      </p:sp>
      <p:sp>
        <p:nvSpPr>
          <p:cNvPr id="40" name="Oval 39"/>
          <p:cNvSpPr/>
          <p:nvPr/>
        </p:nvSpPr>
        <p:spPr>
          <a:xfrm>
            <a:off x="914400" y="567842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5596128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ONNX export for Android</a:t>
            </a:r>
          </a:p>
        </p:txBody>
      </p:sp>
      <p:sp>
        <p:nvSpPr>
          <p:cNvPr id="42" name="Oval 41"/>
          <p:cNvSpPr/>
          <p:nvPr/>
        </p:nvSpPr>
        <p:spPr>
          <a:xfrm>
            <a:off x="914400" y="59710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5888736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45K-frame retail dataset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420624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2200" y="4206240"/>
            <a:ext cx="137160" cy="21031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297679"/>
            <a:ext cx="49377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Calibri"/>
              </a:rPr>
              <a:t>DEVOPS</a:t>
            </a:r>
          </a:p>
        </p:txBody>
      </p:sp>
      <p:sp>
        <p:nvSpPr>
          <p:cNvPr id="47" name="Oval 46"/>
          <p:cNvSpPr/>
          <p:nvPr/>
        </p:nvSpPr>
        <p:spPr>
          <a:xfrm>
            <a:off x="6537960" y="4800600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0" y="4718304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Hostinger VPS (Ubuntu 22)</a:t>
            </a:r>
          </a:p>
        </p:txBody>
      </p:sp>
      <p:sp>
        <p:nvSpPr>
          <p:cNvPr id="49" name="Oval 48"/>
          <p:cNvSpPr/>
          <p:nvPr/>
        </p:nvSpPr>
        <p:spPr>
          <a:xfrm>
            <a:off x="6537960" y="5093208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66560" y="5010912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Nginx + Let's Encrypt TLS</a:t>
            </a:r>
          </a:p>
        </p:txBody>
      </p:sp>
      <p:sp>
        <p:nvSpPr>
          <p:cNvPr id="51" name="Oval 50"/>
          <p:cNvSpPr/>
          <p:nvPr/>
        </p:nvSpPr>
        <p:spPr>
          <a:xfrm>
            <a:off x="6537960" y="5385816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60" y="53035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systemd services</a:t>
            </a:r>
          </a:p>
        </p:txBody>
      </p:sp>
      <p:sp>
        <p:nvSpPr>
          <p:cNvPr id="53" name="Oval 52"/>
          <p:cNvSpPr/>
          <p:nvPr/>
        </p:nvSpPr>
        <p:spPr>
          <a:xfrm>
            <a:off x="6537960" y="5678424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0" y="5596128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Prometheus + Sentry</a:t>
            </a:r>
          </a:p>
        </p:txBody>
      </p:sp>
      <p:sp>
        <p:nvSpPr>
          <p:cNvPr id="55" name="Oval 54"/>
          <p:cNvSpPr/>
          <p:nvPr/>
        </p:nvSpPr>
        <p:spPr>
          <a:xfrm>
            <a:off x="6537960" y="5971032"/>
            <a:ext cx="91440" cy="9144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66560" y="5888736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GitHub CI/CD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VANTAG  |  Retail Intelligence Platform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Video never leaves your premises.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155680" cy="21031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377440"/>
            <a:ext cx="1005840" cy="10058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0058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alibri"/>
              </a:rPr>
              <a:t>YOUR 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Video stays here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0" y="2377440"/>
            <a:ext cx="1005840" cy="100584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0" y="2377440"/>
            <a:ext cx="10058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34290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5B21B6"/>
                </a:solidFill>
                <a:latin typeface="Calibri"/>
              </a:rPr>
              <a:t>VANTAG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365760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Metadata only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86000" y="2880360"/>
            <a:ext cx="7680960" cy="0"/>
          </a:xfrm>
          <a:prstGeom prst="line">
            <a:avLst/>
          </a:prstGeom>
          <a:ln w="381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0" y="237744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111827"/>
                </a:solidFill>
                <a:latin typeface="Calibri"/>
              </a:rPr>
              <a:t>🔒  HTTPS / TLS 1.3  ·  AES-256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01752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Event thumbnails + JSON metadata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11155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COMPLIANCE &amp; 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754880"/>
            <a:ext cx="1965960" cy="82296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28032"/>
            <a:ext cx="1965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DPDP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66360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India 2023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4754880"/>
            <a:ext cx="1965960" cy="82296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4828032"/>
            <a:ext cx="1965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5B21B6"/>
                </a:solidFill>
                <a:latin typeface="Calibri"/>
              </a:rPr>
              <a:t>PDPA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166360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Singapore 2012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0" y="4754880"/>
            <a:ext cx="1965960" cy="82296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4828032"/>
            <a:ext cx="1965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PDPA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5166360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Malaysia 2010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4754880"/>
            <a:ext cx="1965960" cy="82296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4828032"/>
            <a:ext cx="1965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GDPR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5166360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EU-aligned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4754880"/>
            <a:ext cx="1965960" cy="82296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4828032"/>
            <a:ext cx="1965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DC2626"/>
                </a:solidFill>
                <a:latin typeface="Calibri"/>
              </a:rPr>
              <a:t>PCI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5166360"/>
            <a:ext cx="1965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SAQ-A (Razorpay)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1F2937"/>
                </a:solidFill>
                <a:latin typeface="Calibri"/>
              </a:rPr>
              <a:t>JWT · bcrypt(cost=12) · HSTS · Rate limiting · OWASP Top 10 mitigated · Annual pentest · 99.5% uptime SLA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VANTAG  |  Retail Intelligence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COMPETITIVE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Why Vantag wins against legacy &amp; big-brand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155680" cy="5486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8288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VANTAG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8288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Legacy AI-CCTV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8288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Consumer Cam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111556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331720"/>
            <a:ext cx="3017520" cy="5120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32303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Cost per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432303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₹1.9K–9K 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432303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₹4L–40L one-time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432303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₹8K+ DIY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62072"/>
            <a:ext cx="11155680" cy="5120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66160" y="2862072"/>
            <a:ext cx="3017520" cy="5120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962656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AI detections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962656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12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962656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3–6 (vendor lock)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962656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Motion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92424"/>
            <a:ext cx="111556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66160" y="3392424"/>
            <a:ext cx="3017520" cy="5120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493008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Setup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3493008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&lt; 30 minutes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493008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2–3 weeks install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3493008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1 hour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22775"/>
            <a:ext cx="11155680" cy="5120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66160" y="3922775"/>
            <a:ext cx="3017520" cy="5120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23359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Video privacy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4023359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Stays on-prem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023359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Cloud-stored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4023359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Cloud-stored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453127"/>
            <a:ext cx="111556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66160" y="4453127"/>
            <a:ext cx="3017520" cy="5120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553712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Hardware freedom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4553712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Any IP camera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553712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Proprietary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455371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Locked brand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983479"/>
            <a:ext cx="11155680" cy="5120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66160" y="4983479"/>
            <a:ext cx="3017520" cy="5120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084064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Local language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5084064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11 languages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5084064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English 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5084064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English only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513831"/>
            <a:ext cx="111556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566160" y="5513831"/>
            <a:ext cx="3017520" cy="5120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5614416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Per-zone rules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03320" y="5614416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Unlimited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5614416"/>
            <a:ext cx="2834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Paid upgrade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5614416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None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VANTAG  |  Retail Intelligence Platform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How we acquire 1,500 paying tenants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21488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14884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SEO +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14600"/>
            <a:ext cx="23774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Rank for 'AI CCTV for shop',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'retail theft', 'DIY security'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333756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CAC target: ₹ 400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2024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2148840"/>
            <a:ext cx="731520" cy="73152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1488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4884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GOOGLE 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514600"/>
            <a:ext cx="23774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High-intent searches in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all 3 regions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333756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CAC target: ₹ 1,200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92024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80" y="214884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14884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14884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MALL DIRECT 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514600"/>
            <a:ext cx="23774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24 SG malls × 200 cams =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4,800 potential cameras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333756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Enterprise deals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2336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59" y="4251960"/>
            <a:ext cx="731520" cy="73152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2519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25196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INSTALLER CHANNEL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617720"/>
            <a:ext cx="23774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India CCTV installers get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20% recurring commission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59" y="544068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Scale lever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402336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17720" y="42519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42519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25196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POS PARTNERSHIPS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4617720"/>
            <a:ext cx="23774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Square, Pine Labs integrations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for cross-sell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17720" y="544068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Free leads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402336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12480" y="4251960"/>
            <a:ext cx="731520" cy="73152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425196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425196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REFERRAL PROGRAM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4617720"/>
            <a:ext cx="23774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1 month free per successful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referral on both sides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12480" y="544068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Viral coefficient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VANTAG  |  Retail Intelligence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B21B6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From v1.0 GA to enterprise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57600"/>
            <a:ext cx="10789920" cy="457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" y="34290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342900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v0.9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0574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920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BETA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19202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3 detectors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 region (SG)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50 tenants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260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14500" y="3246120"/>
            <a:ext cx="0" cy="18288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40480" y="3429000"/>
            <a:ext cx="502920" cy="50292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342900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v1.0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4114800"/>
            <a:ext cx="20574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4206240"/>
            <a:ext cx="1920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B21B6"/>
                </a:solidFill>
                <a:latin typeface="Calibri"/>
              </a:rPr>
              <a:t>GA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4526280"/>
            <a:ext cx="19202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12 detectors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3 regions · Razorpay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Super-admin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53035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Current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954780" y="3429000"/>
            <a:ext cx="0" cy="685800"/>
          </a:xfrm>
          <a:prstGeom prst="line">
            <a:avLst/>
          </a:prstGeom>
          <a:ln w="19050">
            <a:solidFill>
              <a:srgbClr val="5B21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080760" y="342900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342900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v1.1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1737360"/>
            <a:ext cx="20574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1828800"/>
            <a:ext cx="1920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Q3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148840"/>
            <a:ext cx="19202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Deep POS integrations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Loss-prevention pack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Jetson optimisation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29260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95060" y="3246120"/>
            <a:ext cx="0" cy="18288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321040" y="3429000"/>
            <a:ext cx="502920" cy="50292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42900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v1.2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4114800"/>
            <a:ext cx="20574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4206240"/>
            <a:ext cx="1920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Q4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526280"/>
            <a:ext cx="19202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Cloud-hybrid AI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White-label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CRM webhooks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53035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8435340" y="3429000"/>
            <a:ext cx="0" cy="685800"/>
          </a:xfrm>
          <a:prstGeom prst="line">
            <a:avLst/>
          </a:prstGeom>
          <a:ln w="1905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0561320" y="3429000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61320" y="342900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v2.0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92640" y="1737360"/>
            <a:ext cx="20574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1828800"/>
            <a:ext cx="1920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Q2 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148840"/>
            <a:ext cx="19202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Enterprise SSO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On-prem option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Multi-site federation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80" y="29260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675620" y="3246120"/>
            <a:ext cx="0" cy="18288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VANTAG  |  Retail Intelligence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YEAR-1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What success looks like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697480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5146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 i="0">
                <a:solidFill>
                  <a:srgbClr val="5B21B6"/>
                </a:solidFill>
                <a:latin typeface="Calibri"/>
              </a:rPr>
              <a:t>1,500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paying tenants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01168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2011680"/>
            <a:ext cx="269748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331720"/>
            <a:ext cx="25146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 i="0">
                <a:solidFill>
                  <a:srgbClr val="10B981"/>
                </a:solidFill>
                <a:latin typeface="Calibri"/>
              </a:rPr>
              <a:t>USD 45K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38328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MRR exit run-rate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011680"/>
            <a:ext cx="2697480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2331720"/>
            <a:ext cx="25146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 i="0">
                <a:solidFill>
                  <a:srgbClr val="F59E0B"/>
                </a:solidFill>
                <a:latin typeface="Calibri"/>
              </a:rPr>
              <a:t>68%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38328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gross margin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01168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2011680"/>
            <a:ext cx="2697480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331720"/>
            <a:ext cx="25146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 i="0">
                <a:solidFill>
                  <a:srgbClr val="5B21B6"/>
                </a:solidFill>
                <a:latin typeface="Calibri"/>
              </a:rPr>
              <a:t>&lt; 6 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38328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CAC payback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1480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14800"/>
            <a:ext cx="269748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434840"/>
            <a:ext cx="25146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 i="0">
                <a:solidFill>
                  <a:srgbClr val="10B981"/>
                </a:solidFill>
                <a:latin typeface="Calibri"/>
              </a:rPr>
              <a:t>&gt; 92%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AI detection accuracy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411480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83280" y="4114800"/>
            <a:ext cx="2697480" cy="1371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4434840"/>
            <a:ext cx="25146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 i="0">
                <a:solidFill>
                  <a:srgbClr val="DC2626"/>
                </a:solidFill>
                <a:latin typeface="Calibri"/>
              </a:rPr>
              <a:t>&lt; 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48640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false-positive 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11480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114800"/>
            <a:ext cx="2697480" cy="1371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59" y="4434840"/>
            <a:ext cx="25146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 i="0">
                <a:solidFill>
                  <a:srgbClr val="1F2937"/>
                </a:solidFill>
                <a:latin typeface="Calibri"/>
              </a:rPr>
              <a:t>&gt; 99.5%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548640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cloud uptime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4114800"/>
            <a:ext cx="26974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52560" y="4114800"/>
            <a:ext cx="2697480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4434840"/>
            <a:ext cx="25146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 i="0">
                <a:solidFill>
                  <a:srgbClr val="F59E0B"/>
                </a:solidFill>
                <a:latin typeface="Calibri"/>
              </a:rPr>
              <a:t>&gt; 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5486400"/>
            <a:ext cx="2514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1F2937"/>
                </a:solidFill>
                <a:latin typeface="Calibri"/>
              </a:rPr>
              <a:t>net promoter score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VANTAG  |  Retail Intelligence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TARGET VERTICALS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Built for more than just retail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2697480" cy="7315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RETAIL SHOPS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2–10 cameras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Theft · Shrinkage · Staff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92024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920240"/>
            <a:ext cx="2697480" cy="7315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92024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74320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SHOPPING MALLS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10896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16–60 cameras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8328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Crowd · Fall · Intrusion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92024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920240"/>
            <a:ext cx="2697480" cy="7315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92024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74320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HOSPITALS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10896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20–50 cameras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38328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Patient fall · Restricted zones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192024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1920240"/>
            <a:ext cx="2697480" cy="7315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92024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74320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CLINICS / PHARMA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10896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3–12 cameras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38328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After-hours · Inventory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06908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069080"/>
            <a:ext cx="2697480" cy="7315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06908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89204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POST OFFICES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25780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4–10 cameras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53212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Public safety · Tamper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406908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83280" y="4069080"/>
            <a:ext cx="2697480" cy="7315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406908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489204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POLICE STATIONS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525780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6–20 cameras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553212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Custody · Restricted access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06908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4069080"/>
            <a:ext cx="2697480" cy="7315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406908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489204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SMALL OFFICES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525780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3–15 cameras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53212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After-hours · Tailgating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52560" y="406908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52560" y="4069080"/>
            <a:ext cx="2697480" cy="73152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406908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489204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HOMES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9720" y="525780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2–8 cameras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5532120"/>
            <a:ext cx="24231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Elderly fall · Intrusion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VANTAG  |  Retail Intelligence Platform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B21B6"/>
                </a:solidFill>
                <a:latin typeface="Calibri"/>
              </a:rPr>
              <a:t>BUILT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Enterprise-grade documentation &amp;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4572000" cy="44805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45720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0" b="1" i="0">
                <a:solidFill>
                  <a:srgbClr val="F59E0B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PRODUCTION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PRD · BRD · SRS · HLD · LLD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API · DB · Security · Dev ·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035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Ops · QA · Compliance · User Guides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580644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On GitHub · MIT license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828800"/>
            <a:ext cx="63093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96596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ENGINEERING PRACTICES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46888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✓ GitHub 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4688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Every push tested &amp; deployed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92608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✓ 95%+ test pass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260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62 cases across BE/FE/AI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38328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✓ OWASP Top-10 mitigated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3832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Annual external pentest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84048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✓ 99.5% uptime SLA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8404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Rolling deployments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29768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✓ Structured logs + Sentry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Full observability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75488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✓ Daily DB backups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7548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Cross-region · 30-day retention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521208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✓ Multi-tenant isolation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2120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Row-level security in 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566928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✓ Edge-first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6692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No customer video in cloud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VANTAG  |  Retail Intelligence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0"/>
            <a:ext cx="4059936" cy="137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0"/>
            <a:ext cx="4059936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PARTNER WITH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11556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Protect every retail</a:t>
            </a:r>
          </a:p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business on the planet.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952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4617720"/>
            <a:ext cx="640080" cy="64008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6177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57200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5B21B6"/>
                </a:solidFill>
                <a:latin typeface="Calibri"/>
              </a:rPr>
              <a:t>TRY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983480"/>
            <a:ext cx="23774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retail-vantag.com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retailnazar.com · jagajaga.my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438912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54879" y="46177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46177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457200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PARTNER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4983480"/>
            <a:ext cx="23774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Installers · POS vendors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Mall chains · Distributors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38912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03920" y="46177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6177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57200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INVEST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983480"/>
            <a:ext cx="237744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Seed round opening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anandsg.kumar@gmail.com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093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support@retail-vantag.com   ·   github.com/anandindiakr/Vantag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